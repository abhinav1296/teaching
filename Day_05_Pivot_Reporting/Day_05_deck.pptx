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'aha' is that one pivot is five reports — you just drag fields. Nobody hand-writes a SUMIF after seeing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Drag City in and out of Rows live. Switch Sum↔Average with one click. Add the slicer last — the 'wow'.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4754880" cy="475488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920240"/>
            <a:ext cx="1828800" cy="1828800"/>
          </a:xfrm>
          <a:prstGeom prst="ellipse">
            <a:avLst/>
          </a:prstGeom>
          <a:solidFill>
            <a:srgbClr val="F0544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FOODCO DATA ANALYTICS BOOTCAMP · DAY 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 &amp; Charts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42900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one-page dashboard that ends gut-feel Mondays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074920"/>
            <a:ext cx="1344168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PivotTable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093976" y="5074920"/>
            <a:ext cx="960120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36976" y="5074920"/>
            <a:ext cx="1152144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5074920"/>
            <a:ext cx="1344168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PivotChart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080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hands-on  ·  3-hour session  ·  Module 2 of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today runs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72438" y="3429000"/>
            <a:ext cx="8844077" cy="0"/>
          </a:xfrm>
          <a:prstGeom prst="line">
            <a:avLst/>
          </a:prstGeom>
          <a:noFill/>
          <a:ln w="25400">
            <a:solidFill>
              <a:srgbClr val="DC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370686" y="3127248"/>
            <a:ext cx="603504" cy="603504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0686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52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777947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581705" y="3127248"/>
            <a:ext cx="603504" cy="603504"/>
          </a:xfrm>
          <a:prstGeom prst="ellipse">
            <a:avLst/>
          </a:prstGeom>
          <a:solidFill>
            <a:srgbClr val="138A7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81705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52" dirty="0"/>
          </a:p>
        </p:txBody>
      </p:sp>
      <p:sp>
        <p:nvSpPr>
          <p:cNvPr id="12" name="Text 10"/>
          <p:cNvSpPr txBox="1"/>
          <p:nvPr/>
        </p:nvSpPr>
        <p:spPr>
          <a:xfrm>
            <a:off x="2777947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brief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88966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792724" y="3127248"/>
            <a:ext cx="603504" cy="603504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92724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52" dirty="0"/>
          </a:p>
        </p:txBody>
      </p:sp>
      <p:sp>
        <p:nvSpPr>
          <p:cNvPr id="16" name="Text 14"/>
          <p:cNvSpPr txBox="1"/>
          <p:nvPr/>
        </p:nvSpPr>
        <p:spPr>
          <a:xfrm>
            <a:off x="4988966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199986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003743" y="3127248"/>
            <a:ext cx="603504" cy="6035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03743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52" dirty="0"/>
          </a:p>
        </p:txBody>
      </p:sp>
      <p:sp>
        <p:nvSpPr>
          <p:cNvPr id="20" name="Text 18"/>
          <p:cNvSpPr txBox="1"/>
          <p:nvPr/>
        </p:nvSpPr>
        <p:spPr>
          <a:xfrm>
            <a:off x="7199986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&amp; tell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411005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10214762" y="3127248"/>
            <a:ext cx="603504" cy="603504"/>
          </a:xfrm>
          <a:prstGeom prst="ellipse">
            <a:avLst/>
          </a:prstGeom>
          <a:solidFill>
            <a:srgbClr val="1F2A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214762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52" dirty="0"/>
          </a:p>
        </p:txBody>
      </p:sp>
      <p:sp>
        <p:nvSpPr>
          <p:cNvPr id="24" name="Text 22"/>
          <p:cNvSpPr txBox="1"/>
          <p:nvPr/>
        </p:nvSpPr>
        <p:spPr>
          <a:xfrm>
            <a:off x="9411005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PR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3949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is short on purpose</a:t>
            </a:r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today is about you doing it, not watching.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SCENARIO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the Monday gut-feel argument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640080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783080"/>
            <a:ext cx="5852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Monday leadership argues from gut feel.</a:t>
            </a:r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You're going to end that — build the one-page dashboard that answers “where's the money, and where are we failing on delivery?” at a glance.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64592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orders_enriched.csv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555480" y="164592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DF3DA"/>
          </a:solidFill>
          <a:ln w="12700">
            <a:solidFill>
              <a:srgbClr val="F4B942"/>
            </a:solidFill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Dashboard sheet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343400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1F2A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Where's the money —  </a:t>
            </a:r>
            <a:pPr algn="ctr" indent="0" marL="0">
              <a:buNone/>
            </a:pPr>
            <a:r>
              <a:rPr lang="en-US" sz="2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which city is drowning in late orders?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pivot answers many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4023360" cy="2286000"/>
          </a:xfrm>
          <a:prstGeom prst="roundRect">
            <a:avLst>
              <a:gd name="adj" fmla="val 2400"/>
            </a:avLst>
          </a:prstGeom>
          <a:solidFill>
            <a:srgbClr val="151E42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956816"/>
            <a:ext cx="3621024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 city     value
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1001   Mumbai   540
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1002   Pune     320
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1003   Mumbai   710
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1004   Delhi    280
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…1,440 rows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2971800"/>
            <a:ext cx="1005840" cy="0"/>
          </a:xfrm>
          <a:prstGeom prst="line">
            <a:avLst/>
          </a:prstGeom>
          <a:noFill/>
          <a:ln w="285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4480560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0" y="1828800"/>
            <a:ext cx="2926080" cy="2286000"/>
          </a:xfrm>
          <a:prstGeom prst="roundRect">
            <a:avLst>
              <a:gd name="adj" fmla="val 3200"/>
            </a:avLst>
          </a:prstGeom>
          <a:solidFill>
            <a:srgbClr val="E2F3EF"/>
          </a:solidFill>
          <a:ln w="12700">
            <a:solidFill>
              <a:srgbClr val="138A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26480" y="201168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38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      Revenue
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Mumbai    1,250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Pune        320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Delhi       280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23774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= City,  Values = Sum(order_value).  </a:t>
            </a:r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 field — every number recomputes.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70916" y="466344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ECEFF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city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756916" y="466344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ECEFF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cuisine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042916" y="466344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ECEFF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restaurants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328916" y="466344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ECEFF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hour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614916" y="466344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ECEFF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late by city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425196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pivots you'll build today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4754880" cy="4754880"/>
          </a:xfrm>
          <a:prstGeom prst="ellipse">
            <a:avLst/>
          </a:prstGeom>
          <a:solidFill>
            <a:srgbClr val="F0544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920240"/>
            <a:ext cx="1828800" cy="1828800"/>
          </a:xfrm>
          <a:prstGeom prst="ellipse">
            <a:avLst/>
          </a:prstGeom>
          <a:solidFill>
            <a:srgbClr val="F0544F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10 MIN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pivot from 20 rows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463040" y="2148840"/>
            <a:ext cx="9262872" cy="2103120"/>
          </a:xfrm>
          <a:prstGeom prst="roundRect">
            <a:avLst>
              <a:gd name="adj" fmla="val 2609"/>
            </a:avLst>
          </a:prstGeom>
          <a:solidFill>
            <a:srgbClr val="0E1533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737360" y="2313432"/>
            <a:ext cx="868680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▸ PivotTable
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Rows:    City
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Values:  Sum of order_value     (toggle Sum ↔ Average)
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▸ Slicer:  City
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▸ PivotChart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44068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one field and every number recomputes — this is why we never hand-type a SUMIF again.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2 HOURS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ops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37360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5 pivots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city; by cuisine; top-5 restaurants; orders by hour; % late by city.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66928" y="2715768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670048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Slicer + Timeline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on city, Timeline on order date.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66928" y="3648456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3648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602736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Dashboard sheet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2 PivotCharts onto one sheet.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66928" y="4581144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928" y="4581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2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535424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CEO headline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finding you'd lead with.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001000" y="1783080"/>
            <a:ext cx="3611880" cy="3730752"/>
          </a:xfrm>
          <a:prstGeom prst="roundRect">
            <a:avLst>
              <a:gd name="adj" fmla="val 2025"/>
            </a:avLst>
          </a:prstGeom>
          <a:solidFill>
            <a:srgbClr val="E2F3EF"/>
          </a:solidFill>
          <a:ln w="12700">
            <a:solidFill>
              <a:srgbClr val="138A7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75320" y="2011680"/>
            <a:ext cx="310896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200" kern="0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
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sheet with 2+ charts, a working slicer/timeline, and your one-line CEO headline.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IT FIRST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Day_05_Pivot_Reporting/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6766560" cy="3749040"/>
          </a:xfrm>
          <a:prstGeom prst="roundRect">
            <a:avLst>
              <a:gd name="adj" fmla="val 1463"/>
            </a:avLst>
          </a:prstGeom>
          <a:solidFill>
            <a:srgbClr val="151E42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865376"/>
            <a:ext cx="6364224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Day_05_Pivot_Reporting/
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instructions.md      # read this
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orders_enriched.csv  # build pivots from this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635240" y="1737360"/>
            <a:ext cx="3977640" cy="3749040"/>
          </a:xfrm>
          <a:prstGeom prst="roundRect">
            <a:avLst>
              <a:gd name="adj" fmla="val 1951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0956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today's folder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09560" y="2468880"/>
            <a:ext cx="3429000" cy="685800"/>
          </a:xfrm>
          <a:prstGeom prst="roundRect">
            <a:avLst>
              <a:gd name="adj" fmla="val 8000"/>
            </a:avLst>
          </a:prstGeom>
          <a:solidFill>
            <a:srgbClr val="151E42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110728" y="2596896"/>
            <a:ext cx="30266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upstream main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33832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there yet? 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trainer releases each day's folder in the morning. Pull again in a minute.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· 15 MIN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it in — your Pull Request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858000" cy="3566160"/>
          </a:xfrm>
          <a:prstGeom prst="roundRect">
            <a:avLst>
              <a:gd name="adj" fmla="val 1538"/>
            </a:avLst>
          </a:prstGeom>
          <a:solidFill>
            <a:srgbClr val="151E42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911096"/>
            <a:ext cx="6455664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upstream main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day05-yourname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Day_05_Pivot_Reporting/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"Day 5: pivot dashboard"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day05-yourname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8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then click 'Compare &amp; pull request' on GitHub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26680" y="178308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0" y="185623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only your folder
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Day_05_Pivot_Reporting/ — never git add 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26680" y="2990088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0" y="30632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origin (your fork)
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upstream — that's the trainer's.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26680" y="4197096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0" y="427024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 is your submission
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trainer reviews a couple live.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4754880" cy="4754880"/>
          </a:xfrm>
          <a:prstGeom prst="ellipse">
            <a:avLst/>
          </a:prstGeom>
          <a:solidFill>
            <a:srgbClr val="138A72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920240"/>
            <a:ext cx="1828800" cy="1828800"/>
          </a:xfrm>
          <a:prstGeom prst="ellipse">
            <a:avLst/>
          </a:prstGeom>
          <a:solidFill>
            <a:srgbClr val="138A72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005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build a dashboard in minutes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PivotTables &amp; PivotCharts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379976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&amp; Timelines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193024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one-page ops review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480560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F4B9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  </a:t>
            </a:r>
            <a:pPr algn="ctr" indent="0" marL="0">
              <a:buNone/>
            </a:pPr>
            <a:r>
              <a:rPr lang="en-US" sz="18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— automate the whole report into one button with a macro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FoodCo Bootcamp</dc:creator>
  <cp:lastModifiedBy>FoodCo Bootcamp</cp:lastModifiedBy>
  <cp:revision>1</cp:revision>
  <dcterms:created xsi:type="dcterms:W3CDTF">2026-10-05T16:57:49Z</dcterms:created>
  <dcterms:modified xsi:type="dcterms:W3CDTF">2026-10-05T16:57:49Z</dcterms:modified>
</cp:coreProperties>
</file>