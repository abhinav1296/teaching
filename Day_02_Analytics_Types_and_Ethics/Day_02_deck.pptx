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on the tension: the business wants answers, Legal wants safety. Both are your job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lecture the definitions — anchor each to a real FoodCo question. The jump from Descriptive to Predictive is the jump from a formula to a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Mask a phone live. The 'unethical' one is usually the question that targets individuals by sensitive attribute — let them debate which.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both live. Let the COUNT answer instantly; then ask the room what 'who will churn' would actually require. Mask the phone in one formula.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Float and challenge their tags — many questions sit between two types. That debate is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Bridge: now we know what questions to ask; the next 4 days are about getting data clean enough to answer them in Excel.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4754880" cy="475488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920240"/>
            <a:ext cx="1828800" cy="1828800"/>
          </a:xfrm>
          <a:prstGeom prst="ellipse">
            <a:avLst/>
          </a:prstGeom>
          <a:solidFill>
            <a:srgbClr val="F0544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FOODCO DATA ANALYTICS BOOTCAMP · DAY 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Types &amp; Ethics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42900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question is this — and should we even answer it?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074920"/>
            <a:ext cx="1440180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189988" y="5074920"/>
            <a:ext cx="1344168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717036" y="5074920"/>
            <a:ext cx="1536192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36108" y="5074920"/>
            <a:ext cx="672084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hands-on  ·  3-hour session  ·  Module 1 of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today runs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72438" y="3429000"/>
            <a:ext cx="8844077" cy="0"/>
          </a:xfrm>
          <a:prstGeom prst="line">
            <a:avLst/>
          </a:prstGeom>
          <a:noFill/>
          <a:ln w="25400">
            <a:solidFill>
              <a:srgbClr val="DC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370686" y="3127248"/>
            <a:ext cx="603504" cy="603504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0686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52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777947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581705" y="3127248"/>
            <a:ext cx="603504" cy="603504"/>
          </a:xfrm>
          <a:prstGeom prst="ellipse">
            <a:avLst/>
          </a:prstGeom>
          <a:solidFill>
            <a:srgbClr val="138A7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81705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52" dirty="0"/>
          </a:p>
        </p:txBody>
      </p:sp>
      <p:sp>
        <p:nvSpPr>
          <p:cNvPr id="12" name="Text 10"/>
          <p:cNvSpPr txBox="1"/>
          <p:nvPr/>
        </p:nvSpPr>
        <p:spPr>
          <a:xfrm>
            <a:off x="2777947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brief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88966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792724" y="3127248"/>
            <a:ext cx="603504" cy="603504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92724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52" dirty="0"/>
          </a:p>
        </p:txBody>
      </p:sp>
      <p:sp>
        <p:nvSpPr>
          <p:cNvPr id="16" name="Text 14"/>
          <p:cNvSpPr txBox="1"/>
          <p:nvPr/>
        </p:nvSpPr>
        <p:spPr>
          <a:xfrm>
            <a:off x="4988966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199986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003743" y="3127248"/>
            <a:ext cx="603504" cy="6035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03743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52" dirty="0"/>
          </a:p>
        </p:txBody>
      </p:sp>
      <p:sp>
        <p:nvSpPr>
          <p:cNvPr id="20" name="Text 18"/>
          <p:cNvSpPr txBox="1"/>
          <p:nvPr/>
        </p:nvSpPr>
        <p:spPr>
          <a:xfrm>
            <a:off x="7199986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&amp; tell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411005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10214762" y="3127248"/>
            <a:ext cx="603504" cy="603504"/>
          </a:xfrm>
          <a:prstGeom prst="ellipse">
            <a:avLst/>
          </a:prstGeom>
          <a:solidFill>
            <a:srgbClr val="1F2A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214762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52" dirty="0"/>
          </a:p>
        </p:txBody>
      </p:sp>
      <p:sp>
        <p:nvSpPr>
          <p:cNvPr id="24" name="Text 22"/>
          <p:cNvSpPr txBox="1"/>
          <p:nvPr/>
        </p:nvSpPr>
        <p:spPr>
          <a:xfrm>
            <a:off x="9411005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PR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3949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is short on purpose</a:t>
            </a:r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today is about you doing it, not watching.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SCENARIO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questions, one data-ethics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640080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783080"/>
            <a:ext cx="5852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fires ten questions at the new team</a:t>
            </a:r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from “what was revenue in August?” to “what discount keeps each customer?”. Meanwhile Legal flags that the customer table is </a:t>
            </a:r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 personal data nobody has reviewed</a:t>
            </a:r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64592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DF3DA"/>
          </a:solidFill>
          <a:ln w="12700">
            <a:solidFill>
              <a:srgbClr val="F4B942"/>
            </a:solidFill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business_questions.csv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555480" y="164592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customers_pii.csv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2359152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orders_sample.csv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343400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1F2A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jobs today:  </a:t>
            </a:r>
            <a:pPr algn="ctr" indent="0" marL="0">
              <a:buNone/>
            </a:pPr>
            <a:r>
              <a:rPr lang="en-US" sz="2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questions, then audit the data.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types of analytics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475738" cy="3383280"/>
          </a:xfrm>
          <a:prstGeom prst="roundRect">
            <a:avLst>
              <a:gd name="adj" fmla="val 2955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0477" y="2057400"/>
            <a:ext cx="548640" cy="548640"/>
          </a:xfrm>
          <a:prstGeom prst="ellipse">
            <a:avLst/>
          </a:prstGeom>
          <a:solidFill>
            <a:srgbClr val="138A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30477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788920"/>
            <a:ext cx="220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3291840"/>
            <a:ext cx="201853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“Revenue in August?”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6714" y="1783080"/>
            <a:ext cx="2475738" cy="3383280"/>
          </a:xfrm>
          <a:prstGeom prst="roundRect">
            <a:avLst>
              <a:gd name="adj" fmla="val 2955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90263" y="2057400"/>
            <a:ext cx="548640" cy="54864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90263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63874" y="2788920"/>
            <a:ext cx="220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55314" y="3291840"/>
            <a:ext cx="201853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it happen?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did Mumbai dip?”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86500" y="1783080"/>
            <a:ext cx="2475738" cy="3383280"/>
          </a:xfrm>
          <a:prstGeom prst="roundRect">
            <a:avLst>
              <a:gd name="adj" fmla="val 2955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50049" y="2057400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50049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23660" y="2788920"/>
            <a:ext cx="220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15100" y="3291840"/>
            <a:ext cx="201853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happen?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will churn?”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6286" y="1783080"/>
            <a:ext cx="2475738" cy="3383280"/>
          </a:xfrm>
          <a:prstGeom prst="roundRect">
            <a:avLst>
              <a:gd name="adj" fmla="val 2955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109835" y="2057400"/>
            <a:ext cx="548640" cy="548640"/>
          </a:xfrm>
          <a:prstGeom prst="ellipse">
            <a:avLst/>
          </a:prstGeom>
          <a:solidFill>
            <a:srgbClr val="1F2A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109835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283446" y="2788920"/>
            <a:ext cx="220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374886" y="3291840"/>
            <a:ext cx="201853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we do?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discount keeps them?”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539496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&amp; difficulty climb left → right.  </a:t>
            </a:r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companies live in column 1 and wish they were in column 4.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ETHICS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because you can, should you?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4572000" cy="2743200"/>
          </a:xfrm>
          <a:prstGeom prst="roundRect">
            <a:avLst>
              <a:gd name="adj" fmla="val 2667"/>
            </a:avLst>
          </a:prstGeom>
          <a:solidFill>
            <a:srgbClr val="FDE8E7"/>
          </a:solidFill>
          <a:ln w="12700">
            <a:solidFill>
              <a:srgbClr val="F054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74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in customers_pii.csv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33172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F054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212848" y="233172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F054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584448" y="233172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F054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990088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F054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212848" y="2990088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F054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date_of_birth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57800" y="3063240"/>
            <a:ext cx="914400" cy="0"/>
          </a:xfrm>
          <a:prstGeom prst="line">
            <a:avLst/>
          </a:prstGeom>
          <a:noFill/>
          <a:ln w="285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09360" y="169164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E2F3EF"/>
          </a:solidFill>
          <a:ln w="12700">
            <a:solidFill>
              <a:srgbClr val="138A7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before you share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0" y="2331720"/>
            <a:ext cx="4754880" cy="685800"/>
          </a:xfrm>
          <a:prstGeom prst="roundRect">
            <a:avLst>
              <a:gd name="adj" fmla="val 8000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784848" y="2459736"/>
            <a:ext cx="43525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="xxxxx" &amp; RIGHT(phone,4)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32004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+91-xxxxx-4821.  </a:t>
            </a:r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only what the question actually needs.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709160"/>
            <a:ext cx="11055096" cy="777240"/>
          </a:xfrm>
          <a:prstGeom prst="roundRect">
            <a:avLst>
              <a:gd name="adj" fmla="val 7059"/>
            </a:avLst>
          </a:prstGeom>
          <a:solidFill>
            <a:srgbClr val="1F2A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today's 10 questions is unethical to answer with this data as-is.  </a:t>
            </a:r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it.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4754880" cy="4754880"/>
          </a:xfrm>
          <a:prstGeom prst="ellipse">
            <a:avLst/>
          </a:prstGeom>
          <a:solidFill>
            <a:srgbClr val="F0544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920240"/>
            <a:ext cx="1828800" cy="1828800"/>
          </a:xfrm>
          <a:prstGeom prst="ellipse">
            <a:avLst/>
          </a:prstGeom>
          <a:solidFill>
            <a:srgbClr val="F0544F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10 MIN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formula vs a project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463040" y="2148840"/>
            <a:ext cx="9262872" cy="1773936"/>
          </a:xfrm>
          <a:prstGeom prst="roundRect">
            <a:avLst>
              <a:gd name="adj" fmla="val 3093"/>
            </a:avLst>
          </a:prstGeom>
          <a:solidFill>
            <a:srgbClr val="0E1533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737360" y="2313432"/>
            <a:ext cx="86868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=COUNT(orders!A:A)          -- “how many orders?”  answerable NOW
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8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“who will churn?”  needs history + a model, not a formula
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="xxxxx" &amp; RIGHT(C2, 4)     -- mask a phone  →  +91-xxxxx-4821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44068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is a formula. The other is a project. Know which is which.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2 HOURS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Classify, then audit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37360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all 10 questions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/ Diagnostic / Predictive / Prescriptive in business_questions.csv.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66928" y="2715768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670048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PII audit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every personal-data column in customers_pii.csv + a masking rule for each.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66928" y="3648456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3648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602736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the unethical one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question shouldn't be answered with this data as-is?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66928" y="4581144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" y="4581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2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535424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descriptive stats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revenue, avg order value, order count on orders_sample.csv.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001000" y="1783080"/>
            <a:ext cx="3611880" cy="3730752"/>
          </a:xfrm>
          <a:prstGeom prst="roundRect">
            <a:avLst>
              <a:gd name="adj" fmla="val 2025"/>
            </a:avLst>
          </a:prstGeom>
          <a:solidFill>
            <a:srgbClr val="E2F3EF"/>
          </a:solidFill>
          <a:ln w="12700">
            <a:solidFill>
              <a:srgbClr val="138A7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75320" y="2011680"/>
            <a:ext cx="310896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200" kern="0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
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questions tagged, every PII column has a masking rule, and your 3 stats are computed.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IT FIRST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Day_02_Analytics_Types_and_Ethics/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6766560" cy="3749040"/>
          </a:xfrm>
          <a:prstGeom prst="roundRect">
            <a:avLst>
              <a:gd name="adj" fmla="val 1463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865376"/>
            <a:ext cx="6364224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Day_02_Analytics_Types_and_Ethics/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instructions.md                 # read this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business_questions.csv      # tag these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customers_pii.csv           # audit this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orders_sample.csv           # 3 quick stats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635240" y="1737360"/>
            <a:ext cx="3977640" cy="3749040"/>
          </a:xfrm>
          <a:prstGeom prst="roundRect">
            <a:avLst>
              <a:gd name="adj" fmla="val 1951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0956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today's folder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09560" y="2468880"/>
            <a:ext cx="3429000" cy="685800"/>
          </a:xfrm>
          <a:prstGeom prst="roundRect">
            <a:avLst>
              <a:gd name="adj" fmla="val 8000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110728" y="2596896"/>
            <a:ext cx="30266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upstream main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33832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there yet? 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trainer releases each day's folder in the morning. Pull again in a minute.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· 15 MIN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it in — your Pull Request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858000" cy="3566160"/>
          </a:xfrm>
          <a:prstGeom prst="roundRect">
            <a:avLst>
              <a:gd name="adj" fmla="val 1538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911096"/>
            <a:ext cx="6455664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upstream main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day02-yourname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Day_02_Analytics_Types_and_Ethics/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"Day 2: analytics types + PII audit"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day02-yourname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8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then click 'Compare &amp; pull request' on GitHub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26680" y="178308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185623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only your folder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Day_02_Analytics_Types_and_Ethics/ — never git add 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26680" y="2990088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0" y="30632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origin (your fork)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upstream — that's the trainer's.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26680" y="4197096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0" y="427024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 is your submission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trainer reviews a couple live.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4754880" cy="4754880"/>
          </a:xfrm>
          <a:prstGeom prst="ellipse">
            <a:avLst/>
          </a:prstGeom>
          <a:solidFill>
            <a:srgbClr val="138A72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920240"/>
            <a:ext cx="1828800" cy="1828800"/>
          </a:xfrm>
          <a:prstGeom prst="ellipse">
            <a:avLst/>
          </a:prstGeom>
          <a:solidFill>
            <a:srgbClr val="138A72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005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classify questions — and spot unsafe data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→ prescriptive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379976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PII / governance audit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193024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ethics gut-check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480560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F4B9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  </a:t>
            </a:r>
            <a:pPr algn="ctr" indent="0" marL="0">
              <a:buNone/>
            </a:pPr>
            <a:r>
              <a:rPr lang="en-US" sz="18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clean the messy order export with Power Query  (Module 2 begins)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FoodCo Bootcamp</dc:creator>
  <cp:lastModifiedBy>FoodCo Bootcamp</cp:lastModifiedBy>
  <cp:revision>1</cp:revision>
  <dcterms:created xsi:type="dcterms:W3CDTF">2026-10-05T16:57:49Z</dcterms:created>
  <dcterms:modified xsi:type="dcterms:W3CDTF">2026-10-05T16:57:49Z</dcterms:modified>
</cp:coreProperties>
</file>