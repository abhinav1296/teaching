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on the tension: the business wants answers, Legal wants safety. Both are your job now. 15 questions (10 core + 5 bonus) and a real masking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lecture the definitions — anchor each to a real FoodCo question. The jump from Descriptive to Predictive is the jump from a formula to a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Build B. Every formula is one they used yesterday — LEFT / RIGHT / MID / FIND / TEXT. The lesson: masking isn't a new skill, it's yesterday's skill aimed at a privacy problem. Do NOT let them mask customer_id — that's the analysis key you keep.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FoodCo is an Indian company, so DPDP is their real law — four words they'll remember. Land 'capability ≠ permission': the whole ethics-desk role-play hangs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 (4 lenses): type the COUNTIFS live — instant — then ask the room what 'who will churn' actually requires (history + a model). Demo 2 (mask): mask a phone with RIGHT, then an email with LEFT+MID+FIND. Say out loud: these are yesterday's functions.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Float and challenge their tags — many questions sit between two types. In Build B, don't let them mask customer_id. In the ethics desk, 'refuse everything' is wrong — the skill is knowing when masked-&amp;-aggregated makes it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now we know what questions to ask; the next 4 days are about getting data clean enough to answer them in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03120"/>
            <a:ext cx="4754880" cy="475488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1920240"/>
            <a:ext cx="1828800" cy="1828800"/>
          </a:xfrm>
          <a:prstGeom prst="ellipse">
            <a:avLst/>
          </a:prstGeom>
          <a:solidFill>
            <a:srgbClr val="F0544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FOODCO DATA ANALYTICS BOOTCAMP · DAY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48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Types &amp; Ethics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2900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question is this — and should we even answer it?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074920"/>
            <a:ext cx="1440180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89988" y="5074920"/>
            <a:ext cx="1344168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717036" y="5074920"/>
            <a:ext cx="1536192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Prescriptive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36108" y="5074920"/>
            <a:ext cx="67208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91072" y="5074920"/>
            <a:ext cx="768096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50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EB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hands-on  ·  6-hour session  ·  Module 1 of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today runs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88186" y="3429000"/>
            <a:ext cx="9212580" cy="0"/>
          </a:xfrm>
          <a:prstGeom prst="line">
            <a:avLst/>
          </a:prstGeom>
          <a:noFill/>
          <a:ln w="25400">
            <a:solidFill>
              <a:srgbClr val="DC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331720"/>
            <a:ext cx="1842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186434" y="3127248"/>
            <a:ext cx="603504" cy="603504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6434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52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840480"/>
            <a:ext cx="18425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demos — 4 lenses + mask a phone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409444" y="2331720"/>
            <a:ext cx="1842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min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028950" y="3127248"/>
            <a:ext cx="603504" cy="603504"/>
          </a:xfrm>
          <a:prstGeom prst="ellipse">
            <a:avLst/>
          </a:prstGeom>
          <a:solidFill>
            <a:srgbClr val="FF8C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28950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52" dirty="0"/>
          </a:p>
        </p:txBody>
      </p:sp>
      <p:sp>
        <p:nvSpPr>
          <p:cNvPr id="12" name="Text 10"/>
          <p:cNvSpPr txBox="1"/>
          <p:nvPr/>
        </p:nvSpPr>
        <p:spPr>
          <a:xfrm>
            <a:off x="2409444" y="3840480"/>
            <a:ext cx="18425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— tag &amp; debate 15 Qs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31720"/>
            <a:ext cx="1842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min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4871466" y="3127248"/>
            <a:ext cx="603504" cy="603504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71466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2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840480"/>
            <a:ext cx="18425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 — safe-to-share 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94476" y="2331720"/>
            <a:ext cx="1842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713982" y="3127248"/>
            <a:ext cx="603504" cy="603504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13982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52" dirty="0"/>
          </a:p>
        </p:txBody>
      </p:sp>
      <p:sp>
        <p:nvSpPr>
          <p:cNvPr id="20" name="Text 18"/>
          <p:cNvSpPr txBox="1"/>
          <p:nvPr/>
        </p:nvSpPr>
        <p:spPr>
          <a:xfrm>
            <a:off x="6094476" y="3840480"/>
            <a:ext cx="18425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 — 3 descriptive stats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36992" y="2331720"/>
            <a:ext cx="1842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556498" y="3127248"/>
            <a:ext cx="603504" cy="603504"/>
          </a:xfrm>
          <a:prstGeom prst="ellipse">
            <a:avLst/>
          </a:prstGeom>
          <a:solidFill>
            <a:srgbClr val="1F2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56498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52" dirty="0"/>
          </a:p>
        </p:txBody>
      </p:sp>
      <p:sp>
        <p:nvSpPr>
          <p:cNvPr id="24" name="Text 22"/>
          <p:cNvSpPr txBox="1"/>
          <p:nvPr/>
        </p:nvSpPr>
        <p:spPr>
          <a:xfrm>
            <a:off x="7936992" y="3840480"/>
            <a:ext cx="18425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Ethics-desk role-play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779508" y="2331720"/>
            <a:ext cx="18425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399014" y="3127248"/>
            <a:ext cx="603504" cy="603504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399014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52" dirty="0"/>
          </a:p>
        </p:txBody>
      </p:sp>
      <p:sp>
        <p:nvSpPr>
          <p:cNvPr id="28" name="Text 26"/>
          <p:cNvSpPr txBox="1"/>
          <p:nvPr/>
        </p:nvSpPr>
        <p:spPr>
          <a:xfrm>
            <a:off x="9779508" y="3840480"/>
            <a:ext cx="18425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&amp; tell + open your PR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39496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10-min breaks across the day. </a:t>
            </a:r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demos are short on purpose</a:t>
            </a:r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today you build it, twice.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SCENARIO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questions, one data-ethics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640080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83080"/>
            <a:ext cx="5852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fires fifteen questions at the new team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from “what was revenue in August?” to “what discount keeps each customer?”. Meanwhile Legal flags that the customer table is </a:t>
            </a:r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personal data nobody has reviewed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FoodCo answers to India’s DPDP Act.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1645920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DF3DA"/>
          </a:solidFill>
          <a:ln w="12700">
            <a:solidFill>
              <a:srgbClr val="F4B942"/>
            </a:solidFill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business_questions.csv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555480" y="1645920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customers_pii.csv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2359152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2EA"/>
            </a:solidFill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orders_sample.csv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555480" y="2359152"/>
            <a:ext cx="2103120" cy="566928"/>
          </a:xfrm>
          <a:prstGeom prst="roundRect">
            <a:avLst>
              <a:gd name="adj" fmla="val 12903"/>
            </a:avLst>
          </a:prstGeom>
          <a:solidFill>
            <a:srgbClr val="FDF3DA"/>
          </a:solidFill>
          <a:ln w="12700">
            <a:solidFill>
              <a:srgbClr val="F4B942"/>
            </a:solidFill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safe_customers.csv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343400"/>
            <a:ext cx="11055096" cy="914400"/>
          </a:xfrm>
          <a:prstGeom prst="roundRect">
            <a:avLst>
              <a:gd name="adj" fmla="val 6000"/>
            </a:avLst>
          </a:prstGeom>
          <a:solidFill>
            <a:srgbClr val="1F2A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jobs today:  </a:t>
            </a:r>
            <a:pPr algn="ctr" indent="0" marL="0">
              <a:buNone/>
            </a:pPr>
            <a:r>
              <a:rPr lang="en-US" sz="20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questions, then make the data safe to share.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types of analytics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475738" cy="338328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0477" y="2057400"/>
            <a:ext cx="548640" cy="548640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30477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329184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“Revenue in August?”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6714" y="1783080"/>
            <a:ext cx="2475738" cy="338328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90263" y="2057400"/>
            <a:ext cx="548640" cy="548640"/>
          </a:xfrm>
          <a:prstGeom prst="ellipse">
            <a:avLst/>
          </a:prstGeom>
          <a:solidFill>
            <a:srgbClr val="FF8C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90263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3874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5314" y="329184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happen?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Mumbai dip?”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86500" y="1783080"/>
            <a:ext cx="2475738" cy="338328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50049" y="205740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50049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23660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329184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happen?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will churn?”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6286" y="1783080"/>
            <a:ext cx="2475738" cy="338328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09835" y="2057400"/>
            <a:ext cx="548640" cy="548640"/>
          </a:xfrm>
          <a:prstGeom prst="ellipse">
            <a:avLst/>
          </a:prstGeom>
          <a:solidFill>
            <a:srgbClr val="1F2A5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09835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83446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74886" y="3291840"/>
            <a:ext cx="201853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we do?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discount keeps them?”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9496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&amp; difficulty climb left → right.  </a:t>
            </a:r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companies live in column 1 and wish they were in column 4.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ETHICS · BUILD B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before you share — your safe-to-share table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971800" y="1783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rule  (yesterday’s text functions)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915400" y="1783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" y="2231136"/>
            <a:ext cx="11237976" cy="603504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258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225856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— it’s a pseudonym / your analysis key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25856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C0001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8620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customer_name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86207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=LEFT(B2,1)&amp;". "&amp;MID(B2,FIND(" ",B2)+1,1)&amp;"."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286207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K. 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" y="3438144"/>
            <a:ext cx="11237976" cy="603504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655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34655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=LEFT(C2,2)&amp;"***@"&amp;MID(C2,FIND("@",C2)+1,50)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34655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kr***@example.com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069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71800" y="4069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="xxxxxx"&amp;RIGHT(D2,4)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40690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xxxxxx2098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" y="4645152"/>
            <a:ext cx="11237976" cy="603504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6725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date_of_birth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971800" y="4672584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=TEXT(E2,"yyyy")   — year only / age band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467258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8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stays readable but is a </a:t>
            </a:r>
            <a:pPr algn="ctr" indent="0" marL="0">
              <a:buNone/>
            </a:pPr>
            <a:r>
              <a:rPr lang="en-US" sz="1300" b="1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quasi-identifier</a:t>
            </a:r>
            <a:pPr algn="ctr"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city + date of birth can re-identify someone with no name attached.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— but should you?  India’s DPDP Act 2023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475738" cy="301752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0477" y="2057400"/>
            <a:ext cx="548640" cy="548640"/>
          </a:xfrm>
          <a:prstGeom prst="ellipse">
            <a:avLst/>
          </a:prstGeom>
          <a:solidFill>
            <a:srgbClr val="138A7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30477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3291840"/>
            <a:ext cx="201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personal data only with clear, informed consent for a stated purpose.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6714" y="1783080"/>
            <a:ext cx="2475738" cy="301752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90263" y="2057400"/>
            <a:ext cx="548640" cy="548640"/>
          </a:xfrm>
          <a:prstGeom prst="ellipse">
            <a:avLst/>
          </a:prstGeom>
          <a:solidFill>
            <a:srgbClr val="FF8C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90263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63874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5314" y="3291840"/>
            <a:ext cx="201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taken to deliver food can’t be silently reused — e.g. sold to a partner.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86500" y="1783080"/>
            <a:ext cx="2475738" cy="301752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50049" y="205740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50049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23660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3291840"/>
            <a:ext cx="201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keep what you don’t need. Why store a full DOB when an age band works?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6286" y="1783080"/>
            <a:ext cx="2475738" cy="3017520"/>
          </a:xfrm>
          <a:prstGeom prst="roundRect">
            <a:avLst>
              <a:gd name="adj" fmla="val 2955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09835" y="2057400"/>
            <a:ext cx="548640" cy="548640"/>
          </a:xfrm>
          <a:prstGeom prst="ellipse">
            <a:avLst/>
          </a:prstGeom>
          <a:solidFill>
            <a:srgbClr val="1F2A5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109835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83446" y="2788920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fiduciary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74886" y="3291840"/>
            <a:ext cx="201853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is accountable for protecting it — a breach carries real penalties.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029200"/>
            <a:ext cx="11055096" cy="777240"/>
          </a:xfrm>
          <a:prstGeom prst="roundRect">
            <a:avLst>
              <a:gd name="adj" fmla="val 7059"/>
            </a:avLst>
          </a:prstGeom>
          <a:solidFill>
            <a:srgbClr val="1F2A5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≠ permission.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compute “average order value by age” — governance decides whether you should.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03120"/>
            <a:ext cx="4754880" cy="4754880"/>
          </a:xfrm>
          <a:prstGeom prst="ellipse">
            <a:avLst/>
          </a:prstGeom>
          <a:solidFill>
            <a:srgbClr val="F0544F">
              <a:alpha val="8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1920240"/>
            <a:ext cx="1828800" cy="1828800"/>
          </a:xfrm>
          <a:prstGeom prst="ellipse">
            <a:avLst/>
          </a:prstGeom>
          <a:solidFill>
            <a:srgbClr val="F0544F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LIVE DEMOS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vs a project — then mask live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463040" y="2148840"/>
            <a:ext cx="9262872" cy="2103120"/>
          </a:xfrm>
          <a:prstGeom prst="roundRect">
            <a:avLst>
              <a:gd name="adj" fmla="val 2609"/>
            </a:avLst>
          </a:prstGeom>
          <a:solidFill>
            <a:srgbClr val="0E1533"/>
          </a:solidFill>
          <a:ln/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737360" y="2313432"/>
            <a:ext cx="868680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=COUNTIFS(order_date, "yesterday")   -- "how many orders?"  → answerable NOW  (Descriptive)
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F8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"who will churn next month?"       → needs history + a model, not a formula  (Predictive)
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="xxxxxx"&amp;RIGHT(D2,4)                         -- mask a phone  → xxxxxx2098
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=LEFT(C2,2)&amp;"***@"&amp;MID(C2,FIND("@",C2)+1,50)  -- mask an email → kr***@example.com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44068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is a formula; the other is a project. One formula turns raw PII into safe data.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MOST OF THE DAY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Classify, make safe, then decide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37360"/>
            <a:ext cx="6949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all 15 questions
</a:t>
            </a:r>
            <a:endParaRPr lang="en-US" sz="16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/ Diagnostic / Predictive / Prescriptive in business_questions.csv (10 core + 5 bonus).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66928" y="2715768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715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670048"/>
            <a:ext cx="6949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safe-to-share table
</a:t>
            </a:r>
            <a:endParaRPr lang="en-US" sz="16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masking formula for every PII column in customers_pii.csv (LEFT/RIGHT/MID/FIND/TEXT) → safe_customers.csv. Keep customer_id.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66928" y="3648456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3602736"/>
            <a:ext cx="6949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descriptive stats
</a:t>
            </a:r>
            <a:endParaRPr lang="en-US" sz="16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revenue, AOV, order count on orders_sample.csv — then: why can't these predict the future?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66928" y="4581144"/>
            <a:ext cx="548640" cy="548640"/>
          </a:xfrm>
          <a:prstGeom prst="ellipse">
            <a:avLst/>
          </a:prstGeom>
          <a:solidFill>
            <a:srgbClr val="F054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45811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1344168" y="4535424"/>
            <a:ext cx="6949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ethics desk
</a:t>
            </a:r>
            <a:endParaRPr lang="en-US" sz="16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4 stakeholder requests decide answer / refuse / answer only masked-&amp;-aggregated — and justify each.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8001000" y="1783080"/>
            <a:ext cx="3611880" cy="3730752"/>
          </a:xfrm>
          <a:prstGeom prst="roundRect">
            <a:avLst>
              <a:gd name="adj" fmla="val 2025"/>
            </a:avLst>
          </a:prstGeom>
          <a:solidFill>
            <a:srgbClr val="E2F3EF"/>
          </a:solidFill>
          <a:ln w="12700">
            <a:solidFill>
              <a:srgbClr val="138A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011680"/>
            <a:ext cx="31089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200" kern="0" dirty="0">
                <a:solidFill>
                  <a:srgbClr val="138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
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Qs tagged · safe_customers.csv fully masked (customer_id kept) · 3 stats done · audit.md records your rules + the one risky question.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FIRST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 Day_02_Analytics_Types_and_Ethics/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766560" cy="3749040"/>
          </a:xfrm>
          <a:prstGeom prst="roundRect">
            <a:avLst>
              <a:gd name="adj" fmla="val 1463"/>
            </a:avLst>
          </a:prstGeom>
          <a:solidFill>
            <a:srgbClr val="151E42"/>
          </a:solidFill>
          <a:ln/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8096" y="1865376"/>
            <a:ext cx="636422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2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Day_02_Analytics_Types_and_Ethics/
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2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instructions.md                 # read this
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2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
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2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business_questions.csv      # tag all 15
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2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customers_pii.csv           # audit &amp; mask
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AD2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orders_sample.csv           # 3 quick stats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635240" y="1737360"/>
            <a:ext cx="3977640" cy="3749040"/>
          </a:xfrm>
          <a:prstGeom prst="roundRect">
            <a:avLst>
              <a:gd name="adj" fmla="val 1951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today's folder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909560" y="2468880"/>
            <a:ext cx="3429000" cy="685800"/>
          </a:xfrm>
          <a:prstGeom prst="roundRect">
            <a:avLst>
              <a:gd name="adj" fmla="val 8000"/>
            </a:avLst>
          </a:prstGeom>
          <a:solidFill>
            <a:srgbClr val="151E42"/>
          </a:solidFill>
          <a:ln/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10728" y="2596896"/>
            <a:ext cx="30266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upstream main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09560" y="33832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there yet?  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trainer releases each day's folder in the morning. Pull again in a minute.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F05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· 15 MIN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it in — your Pull Request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858000" cy="3566160"/>
          </a:xfrm>
          <a:prstGeom prst="roundRect">
            <a:avLst>
              <a:gd name="adj" fmla="val 1538"/>
            </a:avLst>
          </a:prstGeom>
          <a:solidFill>
            <a:srgbClr val="151E42"/>
          </a:solidFill>
          <a:ln/>
          <a:effectLst>
            <a:outerShdw sx="100000" sy="100000" kx="0" ky="0" algn="bl" rotWithShape="0" blurRad="88900" dist="38100" dir="5400000">
              <a:srgbClr val="1B1B2F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8096" y="1911096"/>
            <a:ext cx="645566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upstream main
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day02-yourname
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Day_02_Analytics_Types_and_Ethics/
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"Day 2: analytics types + PII masking audit"
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FE3C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day02-yourname
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F8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then click 'Compare &amp; pull request' on GitHub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26680" y="1783080"/>
            <a:ext cx="388620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856232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only your folder
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Day_02_Analytics_Types_and_Ethics/ — never git add 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26680" y="2990088"/>
            <a:ext cx="388620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0" y="3063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origin (your fork)
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upstream — that's the trainer's.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26680" y="4197096"/>
            <a:ext cx="388620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0" y="427024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 is your submission
</a:t>
            </a:r>
            <a:endParaRPr lang="en-US" sz="13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trainer reviews a couple live.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03120"/>
            <a:ext cx="4754880" cy="4754880"/>
          </a:xfrm>
          <a:prstGeom prst="ellipse">
            <a:avLst/>
          </a:prstGeom>
          <a:solidFill>
            <a:srgbClr val="138A72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1920240"/>
            <a:ext cx="1828800" cy="1828800"/>
          </a:xfrm>
          <a:prstGeom prst="ellipse">
            <a:avLst/>
          </a:prstGeom>
          <a:solidFill>
            <a:srgbClr val="138A72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005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classify questions — and make data safe to share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1460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→ prescriptive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251460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safe-to-share masked table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193024" y="251460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&amp; the ethics desk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480560"/>
            <a:ext cx="11055096" cy="914400"/>
          </a:xfrm>
          <a:prstGeom prst="roundRect">
            <a:avLst>
              <a:gd name="adj" fmla="val 6000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1F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  </a:t>
            </a:r>
            <a:pPr algn="ctr" indent="0" marL="0">
              <a:buNone/>
            </a:pPr>
            <a:r>
              <a:rPr lang="en-US" sz="1800" b="1" dirty="0">
                <a:solidFill>
                  <a:srgbClr val="1F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clean the messy order export with Power Query  (Module 2 begins)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FoodCo Bootcamp</dc:creator>
  <cp:lastModifiedBy>FoodCo Bootcamp</cp:lastModifiedBy>
  <cp:revision>1</cp:revision>
  <dcterms:created xsi:type="dcterms:W3CDTF">2026-10-06T16:34:35Z</dcterms:created>
  <dcterms:modified xsi:type="dcterms:W3CDTF">2026-10-06T16:34:35Z</dcterms:modified>
</cp:coreProperties>
</file>