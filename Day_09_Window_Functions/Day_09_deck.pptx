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mental model: an ordinary aggregate collapses rows; a window keeps every row but lets it peek at its group/neighbours.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counter restarting per city live. Then LAG to put the previous value beside the current — 'neighbours without a self-join'.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FOODCO DATA ANALYTICS BOOTCAMP · DAY 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290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row see its neighbours: ranking, running totals, churn gaps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074920"/>
            <a:ext cx="768096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517904" y="5074920"/>
            <a:ext cx="1344168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44952" y="5074920"/>
            <a:ext cx="672084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99916" y="5074920"/>
            <a:ext cx="1632204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hands-on  ·  3-hour session  ·  Module 3 of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72438" y="3429000"/>
            <a:ext cx="8844077" cy="0"/>
          </a:xfrm>
          <a:prstGeom prst="line">
            <a:avLst/>
          </a:prstGeom>
          <a:noFill/>
          <a:ln w="254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370686" y="3127248"/>
            <a:ext cx="603504" cy="603504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0686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2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77947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581705" y="3127248"/>
            <a:ext cx="603504" cy="603504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1705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2" dirty="0"/>
          </a:p>
        </p:txBody>
      </p:sp>
      <p:sp>
        <p:nvSpPr>
          <p:cNvPr id="12" name="Text 10"/>
          <p:cNvSpPr txBox="1"/>
          <p:nvPr/>
        </p:nvSpPr>
        <p:spPr>
          <a:xfrm>
            <a:off x="2777947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brief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896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792724" y="3127248"/>
            <a:ext cx="603504" cy="603504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92724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2" dirty="0"/>
          </a:p>
        </p:txBody>
      </p:sp>
      <p:sp>
        <p:nvSpPr>
          <p:cNvPr id="16" name="Text 14"/>
          <p:cNvSpPr txBox="1"/>
          <p:nvPr/>
        </p:nvSpPr>
        <p:spPr>
          <a:xfrm>
            <a:off x="498896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9998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03743" y="3127248"/>
            <a:ext cx="603504" cy="6035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3743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2" dirty="0"/>
          </a:p>
        </p:txBody>
      </p:sp>
      <p:sp>
        <p:nvSpPr>
          <p:cNvPr id="20" name="Text 18"/>
          <p:cNvSpPr txBox="1"/>
          <p:nvPr/>
        </p:nvSpPr>
        <p:spPr>
          <a:xfrm>
            <a:off x="719998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&amp; tell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411005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0214762" y="3127248"/>
            <a:ext cx="603504" cy="603504"/>
          </a:xfrm>
          <a:prstGeom prst="ellipse">
            <a:avLst/>
          </a:prstGeom>
          <a:solidFill>
            <a:srgbClr val="1F2A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14762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2" dirty="0"/>
          </a:p>
        </p:txBody>
      </p:sp>
      <p:sp>
        <p:nvSpPr>
          <p:cNvPr id="24" name="Text 22"/>
          <p:cNvSpPr txBox="1"/>
          <p:nvPr/>
        </p:nvSpPr>
        <p:spPr>
          <a:xfrm>
            <a:off x="9411005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3949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short on purpose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today is about you doing it, not watching.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SCENARIO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retention really dropping?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4008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5852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is alarmed: retention seems to have dropped in Q3.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want the #1 restaurant per city, a running monthly revenue total, and how long each customer waits between orders — to spot who's slipping toward churn.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DF3DA"/>
          </a:solidFill>
          <a:ln w="12700">
            <a:solidFill>
              <a:srgbClr val="F4B942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answers.sql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55548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../datasets/foodco.db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34340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1F2A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Q3 retention dip  </a:t>
            </a:r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numbers.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can see its neighbours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city  →  counter restarts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4688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     row_number
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Mumbai       1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Mumbai       2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Pune         1   ← restarts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Pune        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  →  pulls the previous row 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688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date   prev (LAG)
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 02        —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 20     Sep 02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 15     Sep 20   ← gap 25d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1206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self-join needed.  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travels with each row.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10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per city, peek at the previous row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463040" y="2148840"/>
            <a:ext cx="9262872" cy="2432304"/>
          </a:xfrm>
          <a:prstGeom prst="roundRect">
            <a:avLst>
              <a:gd name="adj" fmla="val 2256"/>
            </a:avLst>
          </a:prstGeom>
          <a:solidFill>
            <a:srgbClr val="0E1533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37360" y="2313432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#1 per city: counter restarts each partition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ROW_NUMBER() OVER (PARTITION BY city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ORDER BY revenue DESC)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put this customer's previous order on the row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LAG(order_datetime) OVER (PARTITION BY customer_id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ORDER BY order_datetime)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44068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= restart per group. LAG = peek at the previous row.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 HOURS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churn signal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37360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restaurant per city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RANK()/ROW_NUMBER() OVER (PARTITION BY city ORDER BY revenue DESC).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66928" y="2715768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670048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monthly revenue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OVER (ORDER BY month).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66928" y="3648456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602736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order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LAG(order_datetime) per customer.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66928" y="4581144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35424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slippers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whose gap jumped in Jul–Sep; confirm the Q3 dip.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01000" y="1783080"/>
            <a:ext cx="3611880" cy="3730752"/>
          </a:xfrm>
          <a:prstGeom prst="roundRect">
            <a:avLst>
              <a:gd name="adj" fmla="val 2025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011680"/>
            <a:ext cx="310896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
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window query runs, and your numbers show the Q3 retention drop.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FIRST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Day_09_Window_Functions/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766560" cy="3749040"/>
          </a:xfrm>
          <a:prstGeom prst="roundRect">
            <a:avLst>
              <a:gd name="adj" fmla="val 1463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65376"/>
            <a:ext cx="63642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Day_09_Window_Functions/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instructions.md        # read this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answers.sql            # write windows here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../datasets/foodco.db  # the database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35240" y="173736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today's folder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9560" y="246888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10728" y="2596896"/>
            <a:ext cx="3026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3383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there yet?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releases each day's folder in the morning. Pull again in a minute.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· 15 MIN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in — your Pull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858000" cy="3566160"/>
          </a:xfrm>
          <a:prstGeom prst="roundRect">
            <a:avLst>
              <a:gd name="adj" fmla="val 1538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911096"/>
            <a:ext cx="645566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day09-yourname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Day_09_Window_Functions/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9: window functions + churn gaps"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day09-yourname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click 'Compare &amp; pull request' on GitHub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26680" y="17830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8562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only your folder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Day_09_Window_Functions/ — never git add 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26680" y="2990088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origin (your fork)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upstream — that's the trainer's.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6680" y="4197096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4270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is your submission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reviews a couple live.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138A7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138A7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rank, run totals, and measure gaps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&amp; RANK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79976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193024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for churn gaps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8056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4B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  </a:t>
            </a:r>
            <a:pPr algn="ctr" indent="0" marL="0">
              <a:buNone/>
            </a:pPr>
            <a:r>
              <a:rPr lang="en-US" sz="1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— capstone: CTEs, a VIEW, and the exec report into BI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FoodCo Bootcamp</dc:creator>
  <cp:lastModifiedBy>FoodCo Bootcamp</cp:lastModifiedBy>
  <cp:revision>1</cp:revision>
  <dcterms:created xsi:type="dcterms:W3CDTF">2026-10-05T16:57:49Z</dcterms:created>
  <dcterms:modified xsi:type="dcterms:W3CDTF">2026-10-05T16:57:49Z</dcterms:modified>
</cp:coreProperties>
</file>